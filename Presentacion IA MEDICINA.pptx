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3" r:id="rId4"/>
    <p:sldId id="260" r:id="rId5"/>
    <p:sldId id="269" r:id="rId6"/>
    <p:sldId id="261" r:id="rId7"/>
    <p:sldId id="263" r:id="rId8"/>
    <p:sldId id="264" r:id="rId9"/>
    <p:sldId id="265" r:id="rId10"/>
    <p:sldId id="267" r:id="rId11"/>
    <p:sldId id="266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65" d="100"/>
          <a:sy n="65" d="100"/>
        </p:scale>
        <p:origin x="18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39F08-6BCC-4F3B-AC1F-CB6EE71FEC23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18B51-161F-43B1-8B80-7EC28744D8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351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AE1085BD-0C7F-F8B0-20D4-716A62B6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>
            <a:extLst>
              <a:ext uri="{FF2B5EF4-FFF2-40B4-BE49-F238E27FC236}">
                <a16:creationId xmlns:a16="http://schemas.microsoft.com/office/drawing/2014/main" id="{B40D91E7-1CF3-CFE2-8BBC-0A51C5856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>
            <a:extLst>
              <a:ext uri="{FF2B5EF4-FFF2-40B4-BE49-F238E27FC236}">
                <a16:creationId xmlns:a16="http://schemas.microsoft.com/office/drawing/2014/main" id="{0F21380B-C5C4-9115-82C8-6716FB0F5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2612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F0E49-99C7-F96E-AEA2-E7A64D107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7DB430-37E2-D0F1-14F9-202C9407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2C0FE0-2CB6-B6EC-4826-CEC9B15F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B0ACC5-0B67-B0C6-DE84-588ADE61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10987B-2E69-BDFA-73DF-48993FF2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544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587A5-1909-3D2D-1941-B4AA263F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59A0B-DFAB-DC1A-EF6E-8FCC98D58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B47517-4D6C-5458-E7B0-AAF2C453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BE58E0-1E9B-4043-6F95-9DB44875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9FE433-D010-0B79-9759-F457ED9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762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40F05-D4FB-71C8-590D-246364DAB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FAE02-027E-BE88-C285-1F70ABB47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B023FE-952C-B3DE-B014-C13EAD4B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C2A01A-2911-6DA6-6F30-F323F1BC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CB2921-AB42-36FB-183A-98F48E86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639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8D587-3206-7F05-F7CA-01145BC0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85B12F-A964-DDDF-0CED-9A787DDB6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767535-63F5-5991-5340-FF548CA97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118BF7-094B-30CC-C28C-F0D6A089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6C8FB4-2919-E77E-6804-0EAAC7DB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B434C-FF4C-D67C-AEAE-F41B4731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29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C176F-E62A-6E0D-B004-13A823C9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CBDB3A-869A-C637-38DF-0CBC192CE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B72896-A428-7E46-4E04-012B190E1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A47C27-F6F8-36F5-BC1A-778428E23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267F18-AC67-6D6E-9E8A-DE95247E2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74819E-BDAA-8E3F-E6CE-036B1093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556D1F-B1A7-F8C3-EE72-2C5E1F9C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9ABD7C-DADA-18D5-CD67-DB9BA4A6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400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B8222-EC1A-CBFB-9FBF-FEF785EB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B65E32-F070-073E-DC65-F903D8FA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546DE-9713-1C7D-53C8-FCC66392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D7B113-DB98-A061-590A-FD5DC74F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112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0393E5-4B91-2CCA-259C-9A40AA39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FBC637-CC95-AF7C-CB70-F1EB687F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1106B9-AA41-6524-2883-FF0935D0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989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18A2-D369-859D-A85E-18E59E66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FF5D60-A9BE-7818-74AB-70989AD6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48363C-DC35-0559-9B29-F5F9365FF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A53196-6849-BEE0-65CF-8F2EAFE3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F0ACE3-A74E-E578-769E-AFA0A7F4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0A2C68-C527-2AE5-46E2-B7F9930A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020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45A1F-E0F8-2FF3-358C-50C18139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094DA9-BC12-2E7D-6FC8-D14F2495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57B880-3BD1-8080-07E7-DD390C42B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81D37B-1D5A-D22E-0C9D-6DD9934C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BA397E-5305-0F7C-C315-13B58EBC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F6E587-24CF-4871-FA18-F4F7471B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04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6A1DE-FBCA-BCF0-AABC-718F7784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2B8A66-8D92-C397-B273-A0AACE827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6938C6-A71E-0F51-8C43-67A428E1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60120F-CB6B-20D5-2356-EF735E53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B7A72A-7892-2FF0-4DC6-7382F10A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653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370C3A-365A-1831-031E-2264AA437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AB98EA-13CA-E892-78B3-007ABC333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FE42E-BB08-4CFC-763A-4F7B9BFD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06610C-CC91-DBF3-9740-C6ECFA7F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136788-F1C6-2FA9-CAE2-F1E85C50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814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D33BFC-00A7-AA8D-16AB-6082BA40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70BF13-6CF2-56D7-7160-F631539CD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D4F584-3E80-5CA0-51AF-9DE69287B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C4C9A-6F74-4564-9640-7A66B936BD04}" type="datetimeFigureOut">
              <a:rPr lang="es-MX" smtClean="0"/>
              <a:t>02/12/2025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09D349-4EEA-214D-E812-588949CC5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6A8467-DFA8-4DE8-54BC-2C5891286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EA68E-3821-4E83-B992-48A936A42A4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730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1231F03-E55E-50ED-68C5-14393973E8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EF39315-E523-0E9F-28B1-B00B00CD9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419" dirty="0">
                <a:solidFill>
                  <a:srgbClr val="FFFFFF"/>
                </a:solidFill>
                <a:latin typeface="Merriweather" panose="00000500000000000000" pitchFamily="2" charset="0"/>
              </a:rPr>
              <a:t>Inteligencia artificial</a:t>
            </a:r>
            <a:br>
              <a:rPr lang="es-419" dirty="0">
                <a:solidFill>
                  <a:srgbClr val="FFFFFF"/>
                </a:solidFill>
                <a:latin typeface="Merriweather" panose="00000500000000000000" pitchFamily="2" charset="0"/>
              </a:rPr>
            </a:br>
            <a:r>
              <a:rPr lang="es-419" dirty="0">
                <a:solidFill>
                  <a:srgbClr val="FFFFFF"/>
                </a:solidFill>
                <a:latin typeface="Merriweather" panose="00000500000000000000" pitchFamily="2" charset="0"/>
              </a:rPr>
              <a:t>en el campo de  la medicina</a:t>
            </a:r>
            <a:endParaRPr lang="es-MX" dirty="0">
              <a:solidFill>
                <a:srgbClr val="FFFFFF"/>
              </a:solidFill>
              <a:latin typeface="Merriweather" panose="000005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ABF652-FA15-6588-E6F8-C7F35A68C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s-419">
                <a:solidFill>
                  <a:srgbClr val="FFFFFF"/>
                </a:solidFill>
                <a:latin typeface="Merriweather" panose="00000500000000000000" pitchFamily="2" charset="0"/>
              </a:rPr>
              <a:t>Presente, futuro y aplicaciones</a:t>
            </a:r>
            <a:endParaRPr lang="es-MX">
              <a:solidFill>
                <a:srgbClr val="FFFFFF"/>
              </a:solidFill>
              <a:latin typeface="Merriweathe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38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7910247-7F5F-1D75-766B-EC7227758BFB}"/>
              </a:ext>
            </a:extLst>
          </p:cNvPr>
          <p:cNvSpPr txBox="1">
            <a:spLocks/>
          </p:cNvSpPr>
          <p:nvPr/>
        </p:nvSpPr>
        <p:spPr>
          <a:xfrm>
            <a:off x="1524000" y="158663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419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 panose="00000500000000000000" pitchFamily="2" charset="0"/>
              </a:rPr>
              <a:t>Conceptos fundamentales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  <a:latin typeface="Merriweather" panose="00000500000000000000" pitchFamily="2" charset="0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3559546-7503-8B93-4AFB-87D5DCD00B8C}"/>
              </a:ext>
            </a:extLst>
          </p:cNvPr>
          <p:cNvSpPr txBox="1">
            <a:spLocks/>
          </p:cNvSpPr>
          <p:nvPr/>
        </p:nvSpPr>
        <p:spPr>
          <a:xfrm>
            <a:off x="1524000" y="34290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419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 panose="00000500000000000000" pitchFamily="2" charset="0"/>
              </a:rPr>
              <a:t>Entendiendo la tecnología detrás de la medicina moderna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  <a:latin typeface="Merriweather" panose="00000500000000000000" pitchFamily="2" charset="0"/>
            </a:endParaRPr>
          </a:p>
        </p:txBody>
      </p:sp>
      <p:sp>
        <p:nvSpPr>
          <p:cNvPr id="8" name="Google Shape;174;p19">
            <a:extLst>
              <a:ext uri="{FF2B5EF4-FFF2-40B4-BE49-F238E27FC236}">
                <a16:creationId xmlns:a16="http://schemas.microsoft.com/office/drawing/2014/main" id="{BE2C337F-9169-ACB8-1E16-ACC1B02F4765}"/>
              </a:ext>
            </a:extLst>
          </p:cNvPr>
          <p:cNvSpPr/>
          <p:nvPr/>
        </p:nvSpPr>
        <p:spPr>
          <a:xfrm>
            <a:off x="5619750" y="3212054"/>
            <a:ext cx="952500" cy="571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637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55">
          <a:extLst>
            <a:ext uri="{FF2B5EF4-FFF2-40B4-BE49-F238E27FC236}">
              <a16:creationId xmlns:a16="http://schemas.microsoft.com/office/drawing/2014/main" id="{83F65E4F-6D28-0904-4CDB-2FED0F3B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image.png">
            <a:extLst>
              <a:ext uri="{FF2B5EF4-FFF2-40B4-BE49-F238E27FC236}">
                <a16:creationId xmlns:a16="http://schemas.microsoft.com/office/drawing/2014/main" id="{228D6806-F0DB-1F8D-0B58-52B9ADC68F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193" y="2624137"/>
            <a:ext cx="53340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image.png">
            <a:extLst>
              <a:ext uri="{FF2B5EF4-FFF2-40B4-BE49-F238E27FC236}">
                <a16:creationId xmlns:a16="http://schemas.microsoft.com/office/drawing/2014/main" id="{B496AE0F-8E6D-A9FC-5D9E-6F592DDDA7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24137"/>
            <a:ext cx="53340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>
            <a:extLst>
              <a:ext uri="{FF2B5EF4-FFF2-40B4-BE49-F238E27FC236}">
                <a16:creationId xmlns:a16="http://schemas.microsoft.com/office/drawing/2014/main" id="{6DCEB074-4423-3479-4859-73B006ECFEFE}"/>
              </a:ext>
            </a:extLst>
          </p:cNvPr>
          <p:cNvSpPr txBox="1"/>
          <p:nvPr/>
        </p:nvSpPr>
        <p:spPr>
          <a:xfrm>
            <a:off x="295275" y="608438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s-MX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la IA Médica?</a:t>
            </a:r>
            <a:br>
              <a:rPr lang="es-MX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0" name="Google Shape;260;p26">
            <a:extLst>
              <a:ext uri="{FF2B5EF4-FFF2-40B4-BE49-F238E27FC236}">
                <a16:creationId xmlns:a16="http://schemas.microsoft.com/office/drawing/2014/main" id="{2B44883D-05A0-6187-7B8C-CDF907F26F00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>
            <a:extLst>
              <a:ext uri="{FF2B5EF4-FFF2-40B4-BE49-F238E27FC236}">
                <a16:creationId xmlns:a16="http://schemas.microsoft.com/office/drawing/2014/main" id="{BCDD78E8-ED27-9414-9AFD-8A92AC7350A0}"/>
              </a:ext>
            </a:extLst>
          </p:cNvPr>
          <p:cNvSpPr txBox="1"/>
          <p:nvPr/>
        </p:nvSpPr>
        <p:spPr>
          <a:xfrm>
            <a:off x="734378" y="2894941"/>
            <a:ext cx="478059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B4D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Definicion</a:t>
            </a:r>
            <a:endParaRPr dirty="0"/>
          </a:p>
        </p:txBody>
      </p:sp>
      <p:sp>
        <p:nvSpPr>
          <p:cNvPr id="262" name="Google Shape;262;p26">
            <a:extLst>
              <a:ext uri="{FF2B5EF4-FFF2-40B4-BE49-F238E27FC236}">
                <a16:creationId xmlns:a16="http://schemas.microsoft.com/office/drawing/2014/main" id="{DC250FC3-C410-2983-A04F-FBFBE596572E}"/>
              </a:ext>
            </a:extLst>
          </p:cNvPr>
          <p:cNvSpPr txBox="1"/>
          <p:nvPr/>
        </p:nvSpPr>
        <p:spPr>
          <a:xfrm>
            <a:off x="734378" y="3358171"/>
            <a:ext cx="45529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 una rama de las ciencias computacionales dedicada a la resolución de problemas cognitivos comúnmente asociados a la inteligencia humana, tales como el aprendizaje, la resolución de problemas y el reconocimiento de patrones.</a:t>
            </a:r>
            <a:endParaRPr lang="es-MX" sz="1600" dirty="0"/>
          </a:p>
        </p:txBody>
      </p:sp>
      <p:sp>
        <p:nvSpPr>
          <p:cNvPr id="263" name="Google Shape;263;p26">
            <a:extLst>
              <a:ext uri="{FF2B5EF4-FFF2-40B4-BE49-F238E27FC236}">
                <a16:creationId xmlns:a16="http://schemas.microsoft.com/office/drawing/2014/main" id="{64A1A5DD-BEA9-8F6C-A453-02BC0CA0BB5C}"/>
              </a:ext>
            </a:extLst>
          </p:cNvPr>
          <p:cNvSpPr txBox="1"/>
          <p:nvPr/>
        </p:nvSpPr>
        <p:spPr>
          <a:xfrm>
            <a:off x="6677025" y="2886797"/>
            <a:ext cx="478059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B4D8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principal</a:t>
            </a:r>
            <a:endParaRPr dirty="0"/>
          </a:p>
        </p:txBody>
      </p:sp>
      <p:sp>
        <p:nvSpPr>
          <p:cNvPr id="264" name="Google Shape;264;p26">
            <a:extLst>
              <a:ext uri="{FF2B5EF4-FFF2-40B4-BE49-F238E27FC236}">
                <a16:creationId xmlns:a16="http://schemas.microsoft.com/office/drawing/2014/main" id="{0FEA74D3-1909-6785-7C5A-AFF2E44983A7}"/>
              </a:ext>
            </a:extLst>
          </p:cNvPr>
          <p:cNvSpPr txBox="1"/>
          <p:nvPr/>
        </p:nvSpPr>
        <p:spPr>
          <a:xfrm>
            <a:off x="6677025" y="3358171"/>
            <a:ext cx="455295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MX" sz="16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 busca reemplazar al médico, sino actuar como una herramienta potente para procesar grandes volúmenes de datos ("Big Data"), permitiendo diagnósticos más rápidos y tratamientos personalizados.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92459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07C3C-A4F8-2D6F-7DC4-D88408A1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57;p26" descr="image.png">
            <a:extLst>
              <a:ext uri="{FF2B5EF4-FFF2-40B4-BE49-F238E27FC236}">
                <a16:creationId xmlns:a16="http://schemas.microsoft.com/office/drawing/2014/main" id="{83E8D653-9620-6097-FA91-3521B15E378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90718" y="2701305"/>
            <a:ext cx="53340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57;p26" descr="image.png">
            <a:extLst>
              <a:ext uri="{FF2B5EF4-FFF2-40B4-BE49-F238E27FC236}">
                <a16:creationId xmlns:a16="http://schemas.microsoft.com/office/drawing/2014/main" id="{1ED75FBD-7952-E666-6C86-7398A7EA6E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5516" y="2668555"/>
            <a:ext cx="5334000" cy="27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D68E2D2-B8A0-22C1-6992-96E7A4F1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69" y="582188"/>
            <a:ext cx="7063861" cy="961833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Tipos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de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Inteligencia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Artificial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6963F1-0B31-E16A-1017-3CE64BB5B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822" y="2902007"/>
            <a:ext cx="5334000" cy="26914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(ML)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s-419" sz="4800" dirty="0"/>
          </a:p>
          <a:p>
            <a:pPr marL="0" lv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s-MX" sz="48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Algoritmos que "aprenden" de los datos. En medicina, se usa para predecir qué pacientes tienen mayor riesgo de una enfermedad basándose en su historial y estadísticas previas.</a:t>
            </a:r>
            <a:endParaRPr lang="es-MX" sz="4800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0301101-76C9-4DF5-1834-C052EE2A27D6}"/>
              </a:ext>
            </a:extLst>
          </p:cNvPr>
          <p:cNvSpPr txBox="1">
            <a:spLocks/>
          </p:cNvSpPr>
          <p:nvPr/>
        </p:nvSpPr>
        <p:spPr>
          <a:xfrm>
            <a:off x="6584024" y="2803758"/>
            <a:ext cx="5334000" cy="27896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(DL)</a:t>
            </a:r>
            <a:endParaRPr lang="en-US" sz="2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s-419" sz="2100" dirty="0"/>
          </a:p>
          <a:p>
            <a:pPr marL="0" lv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s-MX" sz="21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 evolución del ML que utiliza "redes neuronales" simulando el cerebro humano. Es la tecnología clave para interpretar imágenes complejas como radiografías, resonancias y tomografías.</a:t>
            </a:r>
            <a:endParaRPr lang="es-MX" sz="2100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383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0812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El Combustible: Big Data </a:t>
            </a:r>
            <a:r>
              <a:rPr lang="en-US" sz="36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en</a:t>
            </a:r>
            <a:r>
              <a:rPr lang="en-US" sz="36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Salud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1521404"/>
            <a:ext cx="533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 IA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necesita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aprender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 En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medicina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estos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provienen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fuentes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masivas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heterogéneas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1500" y="2862262"/>
            <a:ext cx="53340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143000" y="3052762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Genómica</a:t>
            </a: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Secuencias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ADN para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medicina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personalizada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8" name="Google Shape;138;p17"/>
          <p:cNvSpPr/>
          <p:nvPr/>
        </p:nvSpPr>
        <p:spPr>
          <a:xfrm>
            <a:off x="571500" y="2862262"/>
            <a:ext cx="47625" cy="990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71500" y="4043362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143000" y="4233862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Historiales</a:t>
            </a: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Clínicos</a:t>
            </a: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Millones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pacientes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1" name="Google Shape;141;p17"/>
          <p:cNvSpPr/>
          <p:nvPr/>
        </p:nvSpPr>
        <p:spPr>
          <a:xfrm>
            <a:off x="571500" y="4043362"/>
            <a:ext cx="47625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4919662"/>
            <a:ext cx="53340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143000" y="5110162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Wearables:</a:t>
            </a:r>
            <a:r>
              <a:rPr lang="en-US" sz="15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tiempo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relojes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sensores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inteligentes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4" name="Google Shape;144;p17"/>
          <p:cNvSpPr/>
          <p:nvPr/>
        </p:nvSpPr>
        <p:spPr>
          <a:xfrm>
            <a:off x="571500" y="4919662"/>
            <a:ext cx="47625" cy="990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2623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42910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53197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Imagen que contiene persona, interior, sostener, hombre&#10;&#10;El contenido generado por IA puede ser incorrecto.">
            <a:extLst>
              <a:ext uri="{FF2B5EF4-FFF2-40B4-BE49-F238E27FC236}">
                <a16:creationId xmlns:a16="http://schemas.microsoft.com/office/drawing/2014/main" id="{6E1BB005-D93B-659F-A700-FE3334756C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2592457"/>
            <a:ext cx="5670906" cy="3189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53;p18" descr="image.png">
            <a:extLst>
              <a:ext uri="{FF2B5EF4-FFF2-40B4-BE49-F238E27FC236}">
                <a16:creationId xmlns:a16="http://schemas.microsoft.com/office/drawing/2014/main" id="{F4DE6E7E-5F4F-B11D-0D07-0A75E83099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2583209"/>
            <a:ext cx="3492549" cy="280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4;p18" descr="image.png">
            <a:extLst>
              <a:ext uri="{FF2B5EF4-FFF2-40B4-BE49-F238E27FC236}">
                <a16:creationId xmlns:a16="http://schemas.microsoft.com/office/drawing/2014/main" id="{0B0A2D46-2C24-B4A1-1448-5F1554EF69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799" y="2583209"/>
            <a:ext cx="3492549" cy="280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5;p18" descr="image.png">
            <a:extLst>
              <a:ext uri="{FF2B5EF4-FFF2-40B4-BE49-F238E27FC236}">
                <a16:creationId xmlns:a16="http://schemas.microsoft.com/office/drawing/2014/main" id="{E2B5C0FF-1643-1172-38CB-BFB7938E48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2583209"/>
            <a:ext cx="3492549" cy="28060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57;p18">
            <a:extLst>
              <a:ext uri="{FF2B5EF4-FFF2-40B4-BE49-F238E27FC236}">
                <a16:creationId xmlns:a16="http://schemas.microsoft.com/office/drawing/2014/main" id="{7DFBBACD-EC50-1989-2713-78368CDFEECB}"/>
              </a:ext>
            </a:extLst>
          </p:cNvPr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8;p18">
            <a:extLst>
              <a:ext uri="{FF2B5EF4-FFF2-40B4-BE49-F238E27FC236}">
                <a16:creationId xmlns:a16="http://schemas.microsoft.com/office/drawing/2014/main" id="{CD4BD169-E375-2A13-AB24-D6F920FD1957}"/>
              </a:ext>
            </a:extLst>
          </p:cNvPr>
          <p:cNvSpPr txBox="1"/>
          <p:nvPr/>
        </p:nvSpPr>
        <p:spPr>
          <a:xfrm>
            <a:off x="784223" y="3773834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4C81"/>
                </a:solidFill>
                <a:latin typeface="Merriweather"/>
                <a:ea typeface="Merriweather"/>
                <a:cs typeface="Merriweather"/>
                <a:sym typeface="Merriweather"/>
              </a:rPr>
              <a:t>Diagnóstico Asistido</a:t>
            </a:r>
            <a:endParaRPr/>
          </a:p>
        </p:txBody>
      </p:sp>
      <p:sp>
        <p:nvSpPr>
          <p:cNvPr id="9" name="Google Shape;159;p18">
            <a:extLst>
              <a:ext uri="{FF2B5EF4-FFF2-40B4-BE49-F238E27FC236}">
                <a16:creationId xmlns:a16="http://schemas.microsoft.com/office/drawing/2014/main" id="{CC564938-3E2B-5EAF-7DBC-62DC0D976D6F}"/>
              </a:ext>
            </a:extLst>
          </p:cNvPr>
          <p:cNvSpPr txBox="1"/>
          <p:nvPr/>
        </p:nvSpPr>
        <p:spPr>
          <a:xfrm>
            <a:off x="857250" y="4240559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 automatizado de imágenes para detección temprana de patologías.</a:t>
            </a:r>
            <a:endParaRPr/>
          </a:p>
        </p:txBody>
      </p:sp>
      <p:sp>
        <p:nvSpPr>
          <p:cNvPr id="10" name="Google Shape;160;p18">
            <a:extLst>
              <a:ext uri="{FF2B5EF4-FFF2-40B4-BE49-F238E27FC236}">
                <a16:creationId xmlns:a16="http://schemas.microsoft.com/office/drawing/2014/main" id="{7744E0B2-DA21-B3C6-D8F6-EAF1B7363734}"/>
              </a:ext>
            </a:extLst>
          </p:cNvPr>
          <p:cNvSpPr txBox="1"/>
          <p:nvPr/>
        </p:nvSpPr>
        <p:spPr>
          <a:xfrm>
            <a:off x="4562523" y="3773834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4C81"/>
                </a:solidFill>
                <a:latin typeface="Merriweather"/>
                <a:ea typeface="Merriweather"/>
                <a:cs typeface="Merriweather"/>
                <a:sym typeface="Merriweather"/>
              </a:rPr>
              <a:t>Cirugía Robótica</a:t>
            </a:r>
            <a:endParaRPr/>
          </a:p>
        </p:txBody>
      </p:sp>
      <p:sp>
        <p:nvSpPr>
          <p:cNvPr id="11" name="Google Shape;161;p18">
            <a:extLst>
              <a:ext uri="{FF2B5EF4-FFF2-40B4-BE49-F238E27FC236}">
                <a16:creationId xmlns:a16="http://schemas.microsoft.com/office/drawing/2014/main" id="{907BDEA1-E2C1-6984-FFCB-83475FB123D6}"/>
              </a:ext>
            </a:extLst>
          </p:cNvPr>
          <p:cNvSpPr txBox="1"/>
          <p:nvPr/>
        </p:nvSpPr>
        <p:spPr>
          <a:xfrm>
            <a:off x="4635549" y="4240559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Asistencia mecánica de alta precisión en quirófano.</a:t>
            </a:r>
            <a:endParaRPr/>
          </a:p>
        </p:txBody>
      </p:sp>
      <p:sp>
        <p:nvSpPr>
          <p:cNvPr id="12" name="Google Shape;162;p18">
            <a:extLst>
              <a:ext uri="{FF2B5EF4-FFF2-40B4-BE49-F238E27FC236}">
                <a16:creationId xmlns:a16="http://schemas.microsoft.com/office/drawing/2014/main" id="{13979D81-8CFA-261C-6FD4-881C0CB83D09}"/>
              </a:ext>
            </a:extLst>
          </p:cNvPr>
          <p:cNvSpPr txBox="1"/>
          <p:nvPr/>
        </p:nvSpPr>
        <p:spPr>
          <a:xfrm>
            <a:off x="8340822" y="3773834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4C81"/>
                </a:solidFill>
                <a:latin typeface="Merriweather"/>
                <a:ea typeface="Merriweather"/>
                <a:cs typeface="Merriweather"/>
                <a:sym typeface="Merriweather"/>
              </a:rPr>
              <a:t>Farmacología</a:t>
            </a:r>
            <a:endParaRPr/>
          </a:p>
        </p:txBody>
      </p:sp>
      <p:sp>
        <p:nvSpPr>
          <p:cNvPr id="13" name="Google Shape;163;p18">
            <a:extLst>
              <a:ext uri="{FF2B5EF4-FFF2-40B4-BE49-F238E27FC236}">
                <a16:creationId xmlns:a16="http://schemas.microsoft.com/office/drawing/2014/main" id="{EED8C9BA-C369-6160-61FB-EB22A1B299FF}"/>
              </a:ext>
            </a:extLst>
          </p:cNvPr>
          <p:cNvSpPr txBox="1"/>
          <p:nvPr/>
        </p:nvSpPr>
        <p:spPr>
          <a:xfrm>
            <a:off x="8413849" y="4240559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Descubrimiento acelerado de nuevos medicamentos.</a:t>
            </a:r>
            <a:endParaRPr/>
          </a:p>
        </p:txBody>
      </p:sp>
      <p:pic>
        <p:nvPicPr>
          <p:cNvPr id="14" name="Google Shape;164;p18" descr="image.png">
            <a:extLst>
              <a:ext uri="{FF2B5EF4-FFF2-40B4-BE49-F238E27FC236}">
                <a16:creationId xmlns:a16="http://schemas.microsoft.com/office/drawing/2014/main" id="{299CEA6D-D2C4-2F1E-4E02-C658FC8770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9575" y="301183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65;p18" descr="image.png">
            <a:extLst>
              <a:ext uri="{FF2B5EF4-FFF2-40B4-BE49-F238E27FC236}">
                <a16:creationId xmlns:a16="http://schemas.microsoft.com/office/drawing/2014/main" id="{22464F38-C174-AC10-0810-ED481103BC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95962" y="301183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6;p18" descr="image.png">
            <a:extLst>
              <a:ext uri="{FF2B5EF4-FFF2-40B4-BE49-F238E27FC236}">
                <a16:creationId xmlns:a16="http://schemas.microsoft.com/office/drawing/2014/main" id="{CFA7F67D-3825-A1C9-D446-4B83274D6BC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07599" y="3011834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A52F510D-8A6E-753D-33ED-5FEB332F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146" y="545147"/>
            <a:ext cx="6325705" cy="961833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Panorama de Aplicaciones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64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DD9835-8580-6765-C445-77D90E6B1925}"/>
              </a:ext>
            </a:extLst>
          </p:cNvPr>
          <p:cNvSpPr txBox="1">
            <a:spLocks/>
          </p:cNvSpPr>
          <p:nvPr/>
        </p:nvSpPr>
        <p:spPr>
          <a:xfrm>
            <a:off x="3271978" y="1424858"/>
            <a:ext cx="5648042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 panose="00000500000000000000" pitchFamily="2" charset="0"/>
              </a:rPr>
              <a:t>Aplicaciones Avanzadas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  <a:latin typeface="Merriweather" panose="00000500000000000000" pitchFamily="2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09EE198-25A3-34B6-B7F3-443DF45D19FA}"/>
              </a:ext>
            </a:extLst>
          </p:cNvPr>
          <p:cNvSpPr txBox="1">
            <a:spLocks/>
          </p:cNvSpPr>
          <p:nvPr/>
        </p:nvSpPr>
        <p:spPr>
          <a:xfrm>
            <a:off x="2072148" y="3429000"/>
            <a:ext cx="804770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419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 panose="00000500000000000000" pitchFamily="2" charset="0"/>
              </a:rPr>
              <a:t>Innovaciones que están transformando el cuidado del paciente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  <a:latin typeface="Merriweather" panose="00000500000000000000" pitchFamily="2" charset="0"/>
            </a:endParaRPr>
          </a:p>
        </p:txBody>
      </p:sp>
      <p:sp>
        <p:nvSpPr>
          <p:cNvPr id="6" name="Google Shape;174;p19">
            <a:extLst>
              <a:ext uri="{FF2B5EF4-FFF2-40B4-BE49-F238E27FC236}">
                <a16:creationId xmlns:a16="http://schemas.microsoft.com/office/drawing/2014/main" id="{34CC03A0-3D03-9F21-78DF-61D89A15E352}"/>
              </a:ext>
            </a:extLst>
          </p:cNvPr>
          <p:cNvSpPr/>
          <p:nvPr/>
        </p:nvSpPr>
        <p:spPr>
          <a:xfrm>
            <a:off x="5619750" y="3146538"/>
            <a:ext cx="952500" cy="571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8406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E2BDC41-CE64-5CE3-9937-D830D10D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360" y="446965"/>
            <a:ext cx="6726934" cy="961833"/>
          </a:xfrm>
        </p:spPr>
        <p:txBody>
          <a:bodyPr>
            <a:normAutofit/>
          </a:bodyPr>
          <a:lstStyle/>
          <a:p>
            <a:pPr lvl="0" algn="ctr">
              <a:spcBef>
                <a:spcPts val="0"/>
              </a:spcBef>
            </a:pPr>
            <a:r>
              <a:rPr lang="es-MX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Medicina de precisión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50C159C-2B15-9DDC-F9BF-D9AD930A37EC}"/>
              </a:ext>
            </a:extLst>
          </p:cNvPr>
          <p:cNvSpPr txBox="1">
            <a:spLocks/>
          </p:cNvSpPr>
          <p:nvPr/>
        </p:nvSpPr>
        <p:spPr>
          <a:xfrm>
            <a:off x="250336" y="2005848"/>
            <a:ext cx="6309491" cy="45476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 IA está revolucionando la radiología y la patología mediante el "Deep </a:t>
            </a:r>
            <a:r>
              <a:rPr lang="es-MX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".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Estos sistemas pueden identificar patrones sutiles en resonancias magnéticas o tomografías que podrían pasar desapercibidos para el ojo humano, reduciendo significativamente los falsos negativos y permitiendo intervenciones tempranas.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Impacto: Tratamientos diseñados para el ADN específico de cada paciente.</a:t>
            </a:r>
            <a:endParaRPr lang="es-MX" dirty="0">
              <a:solidFill>
                <a:schemeClr val="bg1"/>
              </a:solidFill>
            </a:endParaRP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lv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8" name="Imagen 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E42AC99-106D-6C56-A148-E1893079A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48" y="2189169"/>
            <a:ext cx="4983490" cy="326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3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D49E2-AF2B-3F85-98D5-D6C54D96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49C3E76-D51F-5D55-3789-D18F2699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219" y="568772"/>
            <a:ext cx="7067561" cy="961833"/>
          </a:xfrm>
        </p:spPr>
        <p:txBody>
          <a:bodyPr>
            <a:normAutofit/>
          </a:bodyPr>
          <a:lstStyle/>
          <a:p>
            <a:pPr lvl="0" algn="ctr">
              <a:spcBef>
                <a:spcPts val="0"/>
              </a:spcBef>
            </a:pPr>
            <a:r>
              <a:rPr lang="es-MX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Descubrimiento de Fármacos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5558026-A377-B59A-0806-AB64E1931545}"/>
              </a:ext>
            </a:extLst>
          </p:cNvPr>
          <p:cNvSpPr txBox="1">
            <a:spLocks/>
          </p:cNvSpPr>
          <p:nvPr/>
        </p:nvSpPr>
        <p:spPr>
          <a:xfrm>
            <a:off x="201105" y="1982587"/>
            <a:ext cx="6997522" cy="45476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Desarrollar un nuevo medicamento tradicionalmente toma más de 10 años y miles de millones de dólares.</a:t>
            </a: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 IA puede simular la interacción de miles de moléculas "in </a:t>
            </a:r>
            <a:r>
              <a:rPr lang="es-MX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silico</a:t>
            </a: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" (en computadora) en días, identificando candidatos prometedores mucho antes de los ensayos clínicos.</a:t>
            </a:r>
            <a:endParaRPr lang="es-MX" dirty="0">
              <a:solidFill>
                <a:schemeClr val="bg1"/>
              </a:solidFill>
            </a:endParaRPr>
          </a:p>
          <a:p>
            <a:pPr marL="0" lv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Resultado:</a:t>
            </a: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Vacunas y terapias desarrolladas en tiempo récord.</a:t>
            </a:r>
            <a:endParaRPr lang="es-MX" dirty="0">
              <a:solidFill>
                <a:schemeClr val="bg1"/>
              </a:solidFill>
            </a:endParaRP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lv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3" name="Imagen 2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6F41F77-DD3C-CA46-51A2-414074FB1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198" y="1982587"/>
            <a:ext cx="3587465" cy="334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BD0EC-F0C4-79D9-F340-29F71C3D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E1EF7E6-CD72-9161-E1C5-3F0F1C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588" y="584449"/>
            <a:ext cx="7502824" cy="961833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Asistentes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Virtuales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y Chat bots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5BA903B-BD9D-2668-B3D2-340E541E738D}"/>
              </a:ext>
            </a:extLst>
          </p:cNvPr>
          <p:cNvSpPr txBox="1">
            <a:spLocks/>
          </p:cNvSpPr>
          <p:nvPr/>
        </p:nvSpPr>
        <p:spPr>
          <a:xfrm>
            <a:off x="6096000" y="2108718"/>
            <a:ext cx="6096000" cy="450999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60000"/>
              </a:lnSpc>
              <a:spcBef>
                <a:spcPts val="0"/>
              </a:spcBef>
              <a:buNone/>
            </a:pP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Atención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24/7</a:t>
            </a:r>
            <a:endParaRPr lang="es-MX" dirty="0">
              <a:solidFill>
                <a:schemeClr val="accent1">
                  <a:lumMod val="60000"/>
                  <a:lumOff val="40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Los chat </a:t>
            </a:r>
            <a:r>
              <a:rPr lang="es-MX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bots</a:t>
            </a: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médicos impulsados por IA pueden realizar el </a:t>
            </a:r>
            <a:r>
              <a:rPr lang="es-MX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triaje</a:t>
            </a: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inicial de pacientes, responder dudas frecuentes y monitorear síntomas crónicos desde el hogar.</a:t>
            </a:r>
            <a:endParaRPr lang="es-MX" dirty="0">
              <a:solidFill>
                <a:schemeClr val="bg1"/>
              </a:solidFill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s-MX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Esto reduce la saturación en salas de emergencia y brinda soporte inmediato para la salud mental y el seguimiento de tratamientos.</a:t>
            </a:r>
            <a:endParaRPr lang="es-MX" dirty="0">
              <a:solidFill>
                <a:schemeClr val="bg1"/>
              </a:solidFill>
            </a:endParaRP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lvl="0" indent="0">
              <a:lnSpc>
                <a:spcPct val="160000"/>
              </a:lnSpc>
              <a:spcBef>
                <a:spcPts val="0"/>
              </a:spcBef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pic>
        <p:nvPicPr>
          <p:cNvPr id="3" name="Imagen 2" descr="Una caricatura de un avión&#10;&#10;El contenido generado por IA puede ser incorrecto.">
            <a:extLst>
              <a:ext uri="{FF2B5EF4-FFF2-40B4-BE49-F238E27FC236}">
                <a16:creationId xmlns:a16="http://schemas.microsoft.com/office/drawing/2014/main" id="{1865005B-8182-AA36-EA7A-A37886C67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9477"/>
            <a:ext cx="5965458" cy="397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51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0812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Analítica</a:t>
            </a:r>
            <a:r>
              <a:rPr lang="en-US" sz="36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Predictiva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2062162"/>
            <a:ext cx="5334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capacidad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"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ver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futuro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clínico</a:t>
            </a:r>
            <a:r>
              <a:rPr lang="en-US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812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571500" y="2557462"/>
            <a:ext cx="53340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1143000" y="274796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Detección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Sepsis: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Algoritmos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alertan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horas antes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paciente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shock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séptico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22" name="Google Shape;222;p23"/>
          <p:cNvSpPr/>
          <p:nvPr/>
        </p:nvSpPr>
        <p:spPr>
          <a:xfrm>
            <a:off x="571500" y="2557462"/>
            <a:ext cx="47625" cy="990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71500" y="3738562"/>
            <a:ext cx="53340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1143000" y="392906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Reingresos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pacientes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alto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riesgo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volver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hospital.</a:t>
            </a:r>
            <a:endParaRPr dirty="0"/>
          </a:p>
        </p:txBody>
      </p:sp>
      <p:sp>
        <p:nvSpPr>
          <p:cNvPr id="225" name="Google Shape;225;p23"/>
          <p:cNvSpPr/>
          <p:nvPr/>
        </p:nvSpPr>
        <p:spPr>
          <a:xfrm>
            <a:off x="571500" y="3738562"/>
            <a:ext cx="47625" cy="990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71500" y="4919662"/>
            <a:ext cx="53340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1143000" y="511016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Epidemiología: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Rastreo de brotes infecciosos en tiempo real antes de que se conviertan en pandemias.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" y="4919662"/>
            <a:ext cx="47625" cy="990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29575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41386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31971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571500" y="878800"/>
            <a:ext cx="52006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Evolución</a:t>
            </a:r>
            <a:r>
              <a:rPr lang="en-US" sz="36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de la </a:t>
            </a:r>
            <a:r>
              <a:rPr lang="en-US" sz="36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Cirugía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71500" y="2047875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571500" y="3014662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“Más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allá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simple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asistencia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mecánica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la IA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permitiendo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"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Telecirugía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y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tareas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complejas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sutura”</a:t>
            </a:r>
            <a:endParaRPr dirty="0"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4310062"/>
            <a:ext cx="49530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robóticos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eliminan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temblor natural de la mano humana,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proporcionan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visión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3D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ampliada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operar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través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incisiones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microscópicas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reduciendo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drásticamente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tiempo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recuperación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paciente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24137"/>
            <a:ext cx="53340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24137"/>
            <a:ext cx="53340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485775" y="454878"/>
            <a:ext cx="11601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Retos</a:t>
            </a:r>
            <a:r>
              <a:rPr lang="en-US" sz="54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y </a:t>
            </a:r>
            <a:r>
              <a:rPr lang="en-US" sz="54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Desafíos</a:t>
            </a:r>
            <a:endParaRPr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962025" y="3014662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B4D8"/>
                </a:solidFill>
                <a:latin typeface="Merriweather"/>
                <a:ea typeface="Merriweather"/>
                <a:cs typeface="Merriweather"/>
                <a:sym typeface="Merriweather"/>
              </a:rPr>
              <a:t>Ética</a:t>
            </a:r>
            <a:r>
              <a:rPr lang="en-US" sz="2100" b="1" i="0" u="none" strike="noStrike" cap="none" dirty="0">
                <a:solidFill>
                  <a:srgbClr val="00B4D8"/>
                </a:solidFill>
                <a:latin typeface="Merriweather"/>
                <a:ea typeface="Merriweather"/>
                <a:cs typeface="Merriweather"/>
                <a:sym typeface="Merriweather"/>
              </a:rPr>
              <a:t> y </a:t>
            </a:r>
            <a:r>
              <a:rPr lang="en-US" sz="2100" b="1" i="0" u="none" strike="noStrike" cap="none" dirty="0" err="1">
                <a:solidFill>
                  <a:srgbClr val="00B4D8"/>
                </a:solidFill>
                <a:latin typeface="Merriweather"/>
                <a:ea typeface="Merriweather"/>
                <a:cs typeface="Merriweather"/>
                <a:sym typeface="Merriweather"/>
              </a:rPr>
              <a:t>Privacidad</a:t>
            </a:r>
            <a:endParaRPr dirty="0"/>
          </a:p>
        </p:txBody>
      </p:sp>
      <p:sp>
        <p:nvSpPr>
          <p:cNvPr id="262" name="Google Shape;262;p26"/>
          <p:cNvSpPr txBox="1"/>
          <p:nvPr/>
        </p:nvSpPr>
        <p:spPr>
          <a:xfrm>
            <a:off x="962025" y="3548062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manejo de datos sensibles de pacientes por algoritmos requiere regulaciones estrictas para garantizar la privacidad y evitar sesgos algorítmicos que puedan afectar el tratamiento.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6677025" y="3014662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B4D8"/>
                </a:solidFill>
                <a:latin typeface="Merriweather"/>
                <a:ea typeface="Merriweather"/>
                <a:cs typeface="Merriweather"/>
                <a:sym typeface="Merriweather"/>
              </a:rPr>
              <a:t>Estandarización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677025" y="3548062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 necesario estandarizar la investigación en el área para validar clínicamente las herramientas de IA. La falta de protocolos uniformes dificulta la implementación masiva.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/>
        </p:nvSpPr>
        <p:spPr>
          <a:xfrm>
            <a:off x="571500" y="5715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Conclusiones</a:t>
            </a:r>
            <a:r>
              <a:rPr lang="en-US" sz="44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Clave</a:t>
            </a:r>
            <a:endParaRPr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571500" y="2747962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1143000" y="2938462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Transformación</a:t>
            </a: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IA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redefiniendo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estándares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diagnóstico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tratamiento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médico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82" name="Google Shape;282;p28"/>
          <p:cNvSpPr/>
          <p:nvPr/>
        </p:nvSpPr>
        <p:spPr>
          <a:xfrm>
            <a:off x="571500" y="2747962"/>
            <a:ext cx="47625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71500" y="3624262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1143000" y="3814762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Seguridad</a:t>
            </a: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correcta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reduce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errores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médicos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mejora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seguridad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paciente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85" name="Google Shape;285;p28"/>
          <p:cNvSpPr/>
          <p:nvPr/>
        </p:nvSpPr>
        <p:spPr>
          <a:xfrm>
            <a:off x="571500" y="3624262"/>
            <a:ext cx="47625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571500" y="4500562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1143000" y="4691062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Rol del Médico:</a:t>
            </a:r>
            <a:r>
              <a:rPr lang="en-US" sz="1500" b="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tecnología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complemento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nunca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sustituto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juicio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clínico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empatía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humana.</a:t>
            </a:r>
            <a:endParaRPr dirty="0"/>
          </a:p>
        </p:txBody>
      </p:sp>
      <p:sp>
        <p:nvSpPr>
          <p:cNvPr id="288" name="Google Shape;288;p28"/>
          <p:cNvSpPr/>
          <p:nvPr/>
        </p:nvSpPr>
        <p:spPr>
          <a:xfrm>
            <a:off x="571500" y="4500562"/>
            <a:ext cx="47625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29956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8719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4748212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688</Words>
  <Application>Microsoft Office PowerPoint</Application>
  <PresentationFormat>Panorámica</PresentationFormat>
  <Paragraphs>68</Paragraphs>
  <Slides>14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Lato</vt:lpstr>
      <vt:lpstr>Merriweather</vt:lpstr>
      <vt:lpstr>Tema de Office</vt:lpstr>
      <vt:lpstr>Inteligencia artificial en el campo de  la medicina</vt:lpstr>
      <vt:lpstr>Presentación de PowerPoint</vt:lpstr>
      <vt:lpstr>Presentación de PowerPoint</vt:lpstr>
      <vt:lpstr>Tipos de Inteligencia Artificial</vt:lpstr>
      <vt:lpstr>Presentación de PowerPoint</vt:lpstr>
      <vt:lpstr>Panorama de Aplicaciones</vt:lpstr>
      <vt:lpstr>Presentación de PowerPoint</vt:lpstr>
      <vt:lpstr>Medicina de precisión</vt:lpstr>
      <vt:lpstr>Descubrimiento de Fármacos</vt:lpstr>
      <vt:lpstr>Asistentes Virtuales y Chat bots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RAMSES ALVAREZ HICKS</dc:creator>
  <cp:lastModifiedBy>JOSE RAMSES ALVAREZ HICKS</cp:lastModifiedBy>
  <cp:revision>2</cp:revision>
  <dcterms:created xsi:type="dcterms:W3CDTF">2025-12-02T21:47:34Z</dcterms:created>
  <dcterms:modified xsi:type="dcterms:W3CDTF">2025-12-03T00:57:47Z</dcterms:modified>
</cp:coreProperties>
</file>